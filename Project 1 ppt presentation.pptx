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8" r:id="rId1"/>
  </p:sldMasterIdLst>
  <p:notesMasterIdLst>
    <p:notesMasterId r:id="rId17"/>
  </p:notes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92CB0-EBB4-4945-B03E-A9FA9A63B92B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6A4E86-FFFD-4FA6-BB54-1972824D0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52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context is fleet acquisition. Leadership wants evidence-based guidance on which aircraft types appear safer to operate. Since we’re using accident records, we focus on severity outcomes as a way to inform shortlisting and risk-screening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A4E86-FFFD-4FA6-BB54-1972824D0B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36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decision-support project. Success means producing clear severity metrics, highlighting the strongest severity signals, showing whether severity is changing over time, and translating the findings into recommendations leadership can act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A4E86-FFFD-4FA6-BB54-1972824D0B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370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A4E86-FFFD-4FA6-BB54-1972824D0B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1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includes accident records with aircraft type, date, fatalities, and a damage code. Two important cleaning are necessary: dates and fatalities are stored as text, so they must be parsed before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A4E86-FFFD-4FA6-BB54-1972824D0B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84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Missingness is low overall, but fatalities are sensitive; treating unknown fatalities as zero would bias fatal rates downward. So missing fatalities are kept in the dataset but excluded from fatal-rate denominators.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A4E86-FFFD-4FA6-BB54-1972824D0B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25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step made the data analysis-ready: removed non-analytical columns, created reliable time features, converted fatalities to numeric, and created explicit flags so fatal-rate calculations use the correct denominator.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A4E86-FFFD-4FA6-BB54-1972824D0B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001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damage field is originally encoded. I mapped it into human-readable categories so results can be interpreted and communicated. The distribution also tells us the dataset is dominated by substantial damage and written-off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A4E86-FFFD-4FA6-BB54-1972824D0B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34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the minimum sample rule, these three aircraft types show a zero percent fatal accident rate within the dataset. The key point is that the threshold prevents a type with only a few accidents from appearing artificially “best.”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A4E86-FFFD-4FA6-BB54-1972824D0B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326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“Written off” stands out as more than half are fatal and the average fatalities are high. For acquisition and operations, this supports focusing on controls that reduce catastrophic-loss outcomes, not just total accident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A4E86-FFFD-4FA6-BB54-1972824D0B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57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time analysis shows variability, but no steady trend in severity during the five-year period.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A4E86-FFFD-4FA6-BB54-1972824D0B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765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A4E86-FFFD-4FA6-BB54-1972824D0B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0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D891E-CAD2-A18B-B90B-82B662531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FAD3BF-B34B-015C-A768-7E61E89BF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F8F4C-67BD-A210-AC93-8132F2C55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EF569-5CB4-1B96-4461-1812BF268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B49D9-3C83-EDB6-E345-DFAAA2E2D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33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B7B7D-A4AA-3E3D-7582-7EF305FBF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FE88B-FD49-7E89-2C70-0DA4E2F19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5623A-BF4B-95C2-8C2D-D94A5AE75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B08BE-1844-7E4B-08D8-C7485FEE6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907FB-28A3-2D41-BF94-FD9A061D3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595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56C47-1EF9-27EC-9D8C-A07BE5DE3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D25A4-B3E7-960C-02B0-73C8D4DD9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320AD-3C09-AF67-058D-0A4559AA9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50C70-35CE-429E-EF65-C727B7A80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6A28B-4584-7AB4-3631-50BDFF7D1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033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478BF-4F3E-934F-005F-E9DA50513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D6DCE-D4C4-8918-CE16-A3E11612FE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E4F83-810A-6B98-0B6D-CFB7463C2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AE7B4-6FAF-DFAE-1AB4-9C434D80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AC199-982A-EC2D-659D-C599D5DDB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75459-64AB-15FD-A87D-0D9E26427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79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E7478-1853-75DA-E2B2-4F58393BA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B07A0-FB1A-6232-63A7-DBCA8294E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A8ECCE-4A2E-099B-40D3-1337A6F61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F9C60F-6C1D-133D-D38B-D9AF306C91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DBF83-1CB5-0DF0-91B4-83EDEE53A1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200CBA-9BB3-5FA1-5F50-74A46D6CF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9BBA41-BB57-D6D4-6129-D7FF2F619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974D42-2536-6EA3-FA8A-B21EAF45A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8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6406D-BDE4-4E29-2CDF-158CBD1E8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644FDB-51B3-7388-C5AF-3DF8EC122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961E74-4C45-A0A2-14B3-A3657C38D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A05A64-34C8-F1C2-C10C-91914ECB3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214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BBBC21-C620-2BEC-A373-F3926D735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7F8BD3-D71E-2526-76DB-6093A1043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88CDE-C266-5ED2-A4C3-522AA4FAC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355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9F59B-D1FD-D690-BC2F-F60712C10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FFF2F-0F59-6025-DF1E-054ABCFFE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3D541-6D1B-B7B4-0B7B-6BB1824E4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8D974-2124-E02D-FBD6-2FF489D8C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0FFB1-5865-A1CA-8777-905110818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0445B-55A7-3FF0-99C5-3992FACA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149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16F29-9C8A-4F2D-716D-8F2E84205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1370CC-4C14-33EC-EF04-69B9B26B79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43053-EF37-652D-255D-06484A2920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30DE0-5786-4B9B-DA67-0C6DE6DC7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AAA84-BCD1-2FD0-904B-9AB00B288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9AC63-568C-7FDA-E4CA-C933C0990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482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201F5-8EA1-3B59-F541-6E0B08D4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9EB336-87EA-0F43-89E0-A28306ACA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006B9-E2FC-1F39-1D17-9B0C9A3D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132E1-9AC8-9BEC-4887-64DB74B6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2612D-8C88-EF7C-88E5-BCFDD311A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916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971B19-7189-D1F5-504E-1FD7E2A516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7771B-0C89-AEA3-FF79-8521DB47F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A5DEB-BAC2-EFCF-A466-01EE23115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E61D-D431-422C-9764-11DAFE33AB63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B7E21-CD87-9D90-B937-0C450CE81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088DB-5C6D-91BD-03AB-522AE1448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44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7E9DE7-6F10-99F7-CD66-654C196E3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D78D8-69A2-9F65-C073-ABE226DAC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61162-FD1C-579D-52E1-427120DE1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C5264-3535-54CA-09FE-EADFA6439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BFA08-15F8-6936-5385-B83737C64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423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15B43-4C5A-F142-474E-D824D5BF1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8057" y="2330677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US" sz="6000" kern="100" dirty="0">
                <a:effectLst/>
                <a:latin typeface="Bodoni MT Black" panose="02070A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600" b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Understanding Aircraft Accident Severity: Aircraft Type, Damage Category, and Time (2018–2022)</a:t>
            </a:r>
            <a:br>
              <a:rPr lang="en-US" sz="3600" b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3600" b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600" b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By: </a:t>
            </a:r>
            <a:r>
              <a:rPr lang="en-US" sz="3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Chris Mau </a:t>
            </a:r>
            <a:r>
              <a:rPr lang="en-US" sz="3600" kern="1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Karagu</a:t>
            </a:r>
            <a:endParaRPr lang="en-US" sz="36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56350A-5AC4-0E13-57C5-5D1BE3374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130" y="-450419"/>
            <a:ext cx="3879419" cy="387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C2761-BFFE-04ED-1DB4-586CFD04C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C8091-1C7C-9EC6-2CA0-2D1DB7983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this analysis matters:</a:t>
            </a:r>
            <a:endParaRPr lang="en-US" dirty="0"/>
          </a:p>
          <a:p>
            <a:r>
              <a:rPr lang="en-US" dirty="0"/>
              <a:t>Company expanding into aviation operations</a:t>
            </a:r>
          </a:p>
          <a:p>
            <a:r>
              <a:rPr lang="en-US" dirty="0"/>
              <a:t>Need: safe, cost-aware fleet acquisition</a:t>
            </a:r>
          </a:p>
          <a:p>
            <a:r>
              <a:rPr lang="en-US" dirty="0"/>
              <a:t>Primary stakeholder: Executive Leadership / Head of Aviation Division</a:t>
            </a:r>
          </a:p>
          <a:p>
            <a:r>
              <a:rPr lang="en-US" dirty="0"/>
              <a:t>Business problem: identify types associated with lower severity outcomes</a:t>
            </a:r>
          </a:p>
        </p:txBody>
      </p:sp>
    </p:spTree>
    <p:extLst>
      <p:ext uri="{BB962C8B-B14F-4D97-AF65-F5344CB8AC3E}">
        <p14:creationId xmlns:p14="http://schemas.microsoft.com/office/powerpoint/2010/main" val="3531934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6CD2B-6F28-8CA5-1A51-2A045E453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 and 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70947-F901-2C4D-0689-90DBB5570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Objective</a:t>
            </a:r>
            <a:r>
              <a:rPr lang="en-US" dirty="0"/>
              <a:t>: compare severity across aircraft types using historical accident records</a:t>
            </a:r>
          </a:p>
          <a:p>
            <a:r>
              <a:rPr lang="en-US" b="1" dirty="0"/>
              <a:t>Deliverables:</a:t>
            </a:r>
          </a:p>
          <a:p>
            <a:r>
              <a:rPr lang="en-US" dirty="0"/>
              <a:t>ranked severity metrics by aircraft type</a:t>
            </a:r>
          </a:p>
          <a:p>
            <a:r>
              <a:rPr lang="en-US" dirty="0"/>
              <a:t>damage-category severity patterns</a:t>
            </a:r>
          </a:p>
          <a:p>
            <a:r>
              <a:rPr lang="en-US" dirty="0"/>
              <a:t>time trend summary (2018–2022)</a:t>
            </a:r>
          </a:p>
          <a:p>
            <a:r>
              <a:rPr lang="en-US" dirty="0"/>
              <a:t>3 acquisition-ready recommendations</a:t>
            </a:r>
          </a:p>
          <a:p>
            <a:r>
              <a:rPr lang="en-US" dirty="0"/>
              <a:t>Document assumptions &amp; limitations</a:t>
            </a:r>
          </a:p>
        </p:txBody>
      </p:sp>
    </p:spTree>
    <p:extLst>
      <p:ext uri="{BB962C8B-B14F-4D97-AF65-F5344CB8AC3E}">
        <p14:creationId xmlns:p14="http://schemas.microsoft.com/office/powerpoint/2010/main" val="3795732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FAEA1-E3F4-2A4E-1D9D-9F748002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55B37-6C5D-666C-9476-8A21FA87E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RQ1: Which aircraft types show the lowest severity?</a:t>
            </a:r>
          </a:p>
          <a:p>
            <a:r>
              <a:rPr lang="en-US" dirty="0"/>
              <a:t>fatal accident rate; avg fatalities/accident</a:t>
            </a:r>
          </a:p>
          <a:p>
            <a:r>
              <a:rPr lang="en-US" dirty="0"/>
              <a:t>RQ2: How does severity differ by damage category (and by type)?</a:t>
            </a:r>
          </a:p>
          <a:p>
            <a:r>
              <a:rPr lang="en-US" dirty="0"/>
              <a:t>RQ3: How does fatal accident rate change over time (2018–2022)?</a:t>
            </a:r>
          </a:p>
        </p:txBody>
      </p:sp>
    </p:spTree>
    <p:extLst>
      <p:ext uri="{BB962C8B-B14F-4D97-AF65-F5344CB8AC3E}">
        <p14:creationId xmlns:p14="http://schemas.microsoft.com/office/powerpoint/2010/main" val="399565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905E5-7924-48D1-94C0-0C48640AC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EB5A0-48E1-48C8-F3C1-ADD47B835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Rows: 2,500; Columns: 8</a:t>
            </a:r>
          </a:p>
          <a:p>
            <a:r>
              <a:rPr lang="en-US" dirty="0"/>
              <a:t>Fields: </a:t>
            </a:r>
            <a:r>
              <a:rPr lang="en-US" dirty="0" err="1"/>
              <a:t>acc.date</a:t>
            </a:r>
            <a:r>
              <a:rPr lang="en-US" dirty="0"/>
              <a:t>, type, reg, operator, fat, location, dmg</a:t>
            </a:r>
          </a:p>
          <a:p>
            <a:r>
              <a:rPr lang="en-US" dirty="0"/>
              <a:t>Key quality issues:</a:t>
            </a:r>
          </a:p>
          <a:p>
            <a:r>
              <a:rPr lang="en-US" dirty="0" err="1"/>
              <a:t>acc.date</a:t>
            </a:r>
            <a:r>
              <a:rPr lang="en-US" dirty="0"/>
              <a:t> stored as text</a:t>
            </a:r>
          </a:p>
          <a:p>
            <a:r>
              <a:rPr lang="en-US" dirty="0"/>
              <a:t>fat stored as text</a:t>
            </a:r>
          </a:p>
        </p:txBody>
      </p:sp>
    </p:spTree>
    <p:extLst>
      <p:ext uri="{BB962C8B-B14F-4D97-AF65-F5344CB8AC3E}">
        <p14:creationId xmlns:p14="http://schemas.microsoft.com/office/powerpoint/2010/main" val="1215708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5D60-6D5F-7C2D-00BE-58507A277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606A4-D5C5-F71C-2A34-6FBDD8338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Missing rates:</a:t>
            </a:r>
          </a:p>
          <a:p>
            <a:r>
              <a:rPr lang="en-US" dirty="0"/>
              <a:t>reg 3.68%</a:t>
            </a:r>
          </a:p>
          <a:p>
            <a:r>
              <a:rPr lang="en-US" dirty="0"/>
              <a:t>operator 0.56%</a:t>
            </a:r>
          </a:p>
          <a:p>
            <a:r>
              <a:rPr lang="en-US" dirty="0"/>
              <a:t>fat 0.48% (50 records)</a:t>
            </a:r>
          </a:p>
          <a:p>
            <a:r>
              <a:rPr lang="en-US" dirty="0"/>
              <a:t>Approach:</a:t>
            </a:r>
          </a:p>
          <a:p>
            <a:r>
              <a:rPr lang="en-US" dirty="0"/>
              <a:t>keep records, but use correct denominators for rate calculations</a:t>
            </a:r>
          </a:p>
        </p:txBody>
      </p:sp>
    </p:spTree>
    <p:extLst>
      <p:ext uri="{BB962C8B-B14F-4D97-AF65-F5344CB8AC3E}">
        <p14:creationId xmlns:p14="http://schemas.microsoft.com/office/powerpoint/2010/main" val="694461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AD137-3091-43CB-C562-CC1D58822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37273-3497-FDC9-3E5E-8E43A5516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Dropped Unnamed: 0 (exported index)</a:t>
            </a:r>
          </a:p>
          <a:p>
            <a:r>
              <a:rPr lang="en-US" dirty="0"/>
              <a:t>Renamed </a:t>
            </a:r>
            <a:r>
              <a:rPr lang="en-US" dirty="0" err="1"/>
              <a:t>acc.date</a:t>
            </a:r>
            <a:r>
              <a:rPr lang="en-US" dirty="0"/>
              <a:t> → </a:t>
            </a:r>
            <a:r>
              <a:rPr lang="en-US" dirty="0" err="1"/>
              <a:t>acc_date</a:t>
            </a:r>
            <a:endParaRPr lang="en-US" dirty="0"/>
          </a:p>
          <a:p>
            <a:r>
              <a:rPr lang="en-US" dirty="0"/>
              <a:t>Parsed </a:t>
            </a:r>
            <a:r>
              <a:rPr lang="en-US" dirty="0" err="1"/>
              <a:t>acc_date</a:t>
            </a:r>
            <a:r>
              <a:rPr lang="en-US" dirty="0"/>
              <a:t> to datetime; created year</a:t>
            </a:r>
          </a:p>
          <a:p>
            <a:r>
              <a:rPr lang="en-US" dirty="0"/>
              <a:t>6 invalid dates → excluded from year-based analysis only</a:t>
            </a:r>
          </a:p>
          <a:p>
            <a:r>
              <a:rPr lang="en-US" dirty="0"/>
              <a:t>Converted fat to numeric</a:t>
            </a:r>
          </a:p>
          <a:p>
            <a:r>
              <a:rPr lang="en-US" dirty="0"/>
              <a:t>Created flags:</a:t>
            </a:r>
          </a:p>
          <a:p>
            <a:r>
              <a:rPr lang="en-US" dirty="0" err="1"/>
              <a:t>fat_missing</a:t>
            </a:r>
            <a:r>
              <a:rPr lang="en-US" dirty="0"/>
              <a:t>, </a:t>
            </a:r>
            <a:r>
              <a:rPr lang="en-US" dirty="0" err="1"/>
              <a:t>is_fatal_known</a:t>
            </a:r>
            <a:r>
              <a:rPr lang="en-US" dirty="0"/>
              <a:t>, </a:t>
            </a:r>
            <a:r>
              <a:rPr lang="en-US" dirty="0" err="1"/>
              <a:t>is_fatal_strict</a:t>
            </a:r>
            <a:r>
              <a:rPr lang="en-US" dirty="0"/>
              <a:t> = fat &gt; 0</a:t>
            </a:r>
          </a:p>
        </p:txBody>
      </p:sp>
    </p:spTree>
    <p:extLst>
      <p:ext uri="{BB962C8B-B14F-4D97-AF65-F5344CB8AC3E}">
        <p14:creationId xmlns:p14="http://schemas.microsoft.com/office/powerpoint/2010/main" val="961432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F2D9B-7051-15F3-5612-8C2B5DB53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Preparation (Damage Category Standardization)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D5DEA-6839-A6C3-1A1A-E13F5E1D1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Mapped dmg to </a:t>
            </a:r>
            <a:r>
              <a:rPr lang="en-US" dirty="0" err="1"/>
              <a:t>dmg_cat</a:t>
            </a:r>
            <a:r>
              <a:rPr lang="en-US" dirty="0"/>
              <a:t>:</a:t>
            </a:r>
          </a:p>
          <a:p>
            <a:r>
              <a:rPr lang="en-US" dirty="0"/>
              <a:t>non → No damage</a:t>
            </a:r>
          </a:p>
          <a:p>
            <a:r>
              <a:rPr lang="en-US" dirty="0"/>
              <a:t>min → Minor damage</a:t>
            </a:r>
          </a:p>
          <a:p>
            <a:r>
              <a:rPr lang="en-US" dirty="0"/>
              <a:t>sub → Substantial damage</a:t>
            </a:r>
          </a:p>
          <a:p>
            <a:r>
              <a:rPr lang="en-US" dirty="0"/>
              <a:t>w/o → Written off</a:t>
            </a:r>
          </a:p>
          <a:p>
            <a:r>
              <a:rPr lang="en-US" dirty="0" err="1"/>
              <a:t>unk</a:t>
            </a:r>
            <a:r>
              <a:rPr lang="en-US" dirty="0"/>
              <a:t> → Unknown</a:t>
            </a:r>
          </a:p>
          <a:p>
            <a:r>
              <a:rPr lang="en-US" dirty="0"/>
              <a:t>mis → Missing</a:t>
            </a:r>
          </a:p>
          <a:p>
            <a:endParaRPr lang="en-US" dirty="0"/>
          </a:p>
          <a:p>
            <a:r>
              <a:rPr lang="en-US" b="1" dirty="0"/>
              <a:t>Distribution:</a:t>
            </a:r>
          </a:p>
          <a:p>
            <a:r>
              <a:rPr lang="en-US" dirty="0"/>
              <a:t>Substantial: 1330</a:t>
            </a:r>
          </a:p>
          <a:p>
            <a:r>
              <a:rPr lang="en-US" dirty="0"/>
              <a:t>Written off: 702</a:t>
            </a:r>
          </a:p>
          <a:p>
            <a:r>
              <a:rPr lang="en-US" dirty="0"/>
              <a:t>No damage: 338</a:t>
            </a:r>
          </a:p>
          <a:p>
            <a:r>
              <a:rPr lang="en-US" dirty="0"/>
              <a:t>Minor: 98</a:t>
            </a:r>
          </a:p>
          <a:p>
            <a:r>
              <a:rPr lang="en-US" dirty="0"/>
              <a:t>Unknown: 30</a:t>
            </a:r>
          </a:p>
          <a:p>
            <a:r>
              <a:rPr lang="en-US" dirty="0"/>
              <a:t>Missing: 2</a:t>
            </a:r>
          </a:p>
        </p:txBody>
      </p:sp>
    </p:spTree>
    <p:extLst>
      <p:ext uri="{BB962C8B-B14F-4D97-AF65-F5344CB8AC3E}">
        <p14:creationId xmlns:p14="http://schemas.microsoft.com/office/powerpoint/2010/main" val="3889552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D1F50-0556-73D4-65A2-7A4CD3D90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Findings (RQ1: Lowest-severity types under threshold)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E6FBB-0B11-CE50-5592-9A11CCD07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Lowest fatal accident rate (n ≥ 20 accidents/type)</a:t>
            </a:r>
          </a:p>
          <a:p>
            <a:r>
              <a:rPr lang="en-US" dirty="0"/>
              <a:t>Aircraft types with 0% fatal accident rate in this dataset (n ≥ 20):</a:t>
            </a:r>
          </a:p>
          <a:p>
            <a:r>
              <a:rPr lang="en-US" dirty="0"/>
              <a:t>Airbus A320-214</a:t>
            </a:r>
          </a:p>
          <a:p>
            <a:r>
              <a:rPr lang="en-US" dirty="0"/>
              <a:t>Airbus A320-232</a:t>
            </a:r>
          </a:p>
          <a:p>
            <a:r>
              <a:rPr lang="en-US" dirty="0"/>
              <a:t>Boeing 737-8AS (WL)</a:t>
            </a:r>
          </a:p>
          <a:p>
            <a:r>
              <a:rPr lang="en-US" dirty="0"/>
              <a:t>Threshold improves fairness and stability of comparisons</a:t>
            </a:r>
          </a:p>
        </p:txBody>
      </p:sp>
    </p:spTree>
    <p:extLst>
      <p:ext uri="{BB962C8B-B14F-4D97-AF65-F5344CB8AC3E}">
        <p14:creationId xmlns:p14="http://schemas.microsoft.com/office/powerpoint/2010/main" val="815737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5DDF9-F482-4E09-5171-6357864C0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Findings (RQ2: Damage category drives severity)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0F5A7-66FC-0170-37BB-F0CF58C3A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Written off accidents:</a:t>
            </a:r>
          </a:p>
          <a:p>
            <a:r>
              <a:rPr lang="en-US" dirty="0"/>
              <a:t>Fatal accident rate: 52.23%</a:t>
            </a:r>
          </a:p>
          <a:p>
            <a:r>
              <a:rPr lang="en-US" dirty="0"/>
              <a:t>Avg fatalities/accident: 6.64</a:t>
            </a:r>
          </a:p>
          <a:p>
            <a:r>
              <a:rPr lang="en-US" dirty="0"/>
              <a:t>Much higher than other damage categories</a:t>
            </a:r>
          </a:p>
          <a:p>
            <a:r>
              <a:rPr lang="en-US" dirty="0"/>
              <a:t>Interpretation: catastrophic damage outcomes strongly align with fatal severity</a:t>
            </a:r>
          </a:p>
        </p:txBody>
      </p:sp>
    </p:spTree>
    <p:extLst>
      <p:ext uri="{BB962C8B-B14F-4D97-AF65-F5344CB8AC3E}">
        <p14:creationId xmlns:p14="http://schemas.microsoft.com/office/powerpoint/2010/main" val="1000675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33DC1-1993-FB8F-1AC6-ABA155751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Findings (RQ3: Time trend 2018–2022)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A0B08-5772-32A9-9494-D444EB986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Annual fatal accident rate range: 14.62%–17.45%</a:t>
            </a:r>
          </a:p>
          <a:p>
            <a:r>
              <a:rPr lang="en-US" dirty="0"/>
              <a:t>Year-to-year variability is present</a:t>
            </a:r>
          </a:p>
          <a:p>
            <a:r>
              <a:rPr lang="en-US" dirty="0"/>
              <a:t>No consistent upward or downward pattern (2018–2022)</a:t>
            </a:r>
          </a:p>
        </p:txBody>
      </p:sp>
    </p:spTree>
    <p:extLst>
      <p:ext uri="{BB962C8B-B14F-4D97-AF65-F5344CB8AC3E}">
        <p14:creationId xmlns:p14="http://schemas.microsoft.com/office/powerpoint/2010/main" val="3276924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D826D-4AA3-214F-EE00-801C7D823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Executive Summary (Decision-Relevant Takeaways)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B7924-004B-A4FA-1D78-79704455C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Shortlist signal: three common types show 0% fatal rate (with n ≥ 20)</a:t>
            </a:r>
          </a:p>
          <a:p>
            <a:r>
              <a:rPr lang="en-US" dirty="0"/>
              <a:t>Strongest severity driver: damage category, especially Written off</a:t>
            </a:r>
          </a:p>
          <a:p>
            <a:r>
              <a:rPr lang="en-US" dirty="0"/>
              <a:t>Time: variability exists, but no consistent trend (2018–2022)</a:t>
            </a:r>
          </a:p>
          <a:p>
            <a:r>
              <a:rPr lang="en-US" dirty="0"/>
              <a:t>Best use: severity-based screening, not prediction</a:t>
            </a:r>
          </a:p>
        </p:txBody>
      </p:sp>
    </p:spTree>
    <p:extLst>
      <p:ext uri="{BB962C8B-B14F-4D97-AF65-F5344CB8AC3E}">
        <p14:creationId xmlns:p14="http://schemas.microsoft.com/office/powerpoint/2010/main" val="2031486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5F55-F32A-1194-3085-4CCE24F08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FB78E-10CD-9EA6-965C-8EE990596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  <a:p>
            <a:r>
              <a:rPr lang="en-US" b="1" dirty="0"/>
              <a:t>Recommendation 1: Build a purchase shortlist using a minimum-evidence rule</a:t>
            </a:r>
          </a:p>
          <a:p>
            <a:r>
              <a:rPr lang="en-US" dirty="0"/>
              <a:t>Only evaluate aircraft types with ≥ 20 accidents (stability threshold)</a:t>
            </a:r>
          </a:p>
          <a:p>
            <a:r>
              <a:rPr lang="en-US" dirty="0"/>
              <a:t>Prioritize types with the lowest fatal accident rate and lowest avg fatalities/accident</a:t>
            </a:r>
          </a:p>
          <a:p>
            <a:r>
              <a:rPr lang="en-US" b="1" dirty="0"/>
              <a:t>Recommendation 2: Shortlist signal from this dataset (2018–2022, n≥20)</a:t>
            </a:r>
            <a:endParaRPr lang="en-US" dirty="0"/>
          </a:p>
          <a:p>
            <a:r>
              <a:rPr lang="en-US" dirty="0"/>
              <a:t>Airbus A320-214, Airbus A320-232, Boeing 737-8AS (WL) → 0% fatal accident rate</a:t>
            </a:r>
          </a:p>
          <a:p>
            <a:r>
              <a:rPr lang="en-US" dirty="0"/>
              <a:t>Treat as candidates.</a:t>
            </a:r>
          </a:p>
          <a:p>
            <a:r>
              <a:rPr lang="en-US" b="1" dirty="0"/>
              <a:t>Recommendation 3: Add a “catastrophic outcome” screen using damage category</a:t>
            </a:r>
          </a:p>
          <a:p>
            <a:r>
              <a:rPr lang="en-US" dirty="0"/>
              <a:t>Because Written off aligns with extreme severity (52.23% fatal, 6.64 avg fatalities)</a:t>
            </a:r>
          </a:p>
          <a:p>
            <a:r>
              <a:rPr lang="en-US" dirty="0"/>
              <a:t>Procurement and operations should prioritize aircraft and operating profiles that reduce pathways to Written off outcomes</a:t>
            </a:r>
          </a:p>
        </p:txBody>
      </p:sp>
    </p:spTree>
    <p:extLst>
      <p:ext uri="{BB962C8B-B14F-4D97-AF65-F5344CB8AC3E}">
        <p14:creationId xmlns:p14="http://schemas.microsoft.com/office/powerpoint/2010/main" val="3788174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93CB8-2F49-3608-AA6E-0BC8FB98A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5E1E1-6D96-6B9E-7031-48516FBA3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 exposure data (e.g., flight hours/cycles) : cannot estimate true risk rates; results support screening, not definitive safety rankings</a:t>
            </a:r>
          </a:p>
          <a:p>
            <a:r>
              <a:rPr lang="en-US" dirty="0"/>
              <a:t>Selection/reporting bias: dataset includes accidents, not all operations; comparisons may be influenced by reporting completeness and operating context</a:t>
            </a:r>
          </a:p>
          <a:p>
            <a:r>
              <a:rPr lang="en-US" dirty="0"/>
              <a:t>Missing/invalid fields:</a:t>
            </a:r>
          </a:p>
          <a:p>
            <a:r>
              <a:rPr lang="en-US" dirty="0"/>
              <a:t>50 missing fatalities excluded from fatal-rate denominators (to avoid treating unknown as zero)</a:t>
            </a:r>
          </a:p>
          <a:p>
            <a:r>
              <a:rPr lang="en-US" dirty="0"/>
              <a:t>6 </a:t>
            </a:r>
            <a:r>
              <a:rPr lang="en-US" dirty="0" err="1"/>
              <a:t>unparseable</a:t>
            </a:r>
            <a:r>
              <a:rPr lang="en-US" dirty="0"/>
              <a:t> dates excluded from year-trend analyses</a:t>
            </a:r>
          </a:p>
        </p:txBody>
      </p:sp>
    </p:spTree>
    <p:extLst>
      <p:ext uri="{BB962C8B-B14F-4D97-AF65-F5344CB8AC3E}">
        <p14:creationId xmlns:p14="http://schemas.microsoft.com/office/powerpoint/2010/main" val="1727187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4871B-04BC-9E7D-20C2-63F7A76D0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3600" b="1" kern="100" dirty="0">
                <a:effectLst/>
                <a:latin typeface="Bodoni MT Black" panose="02070A030806060202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Appendix (Tables and Graphs Used)</a:t>
            </a:r>
            <a:endParaRPr lang="en-US" dirty="0">
              <a:latin typeface="Bodoni MT Black" panose="02070A030806060202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BE172F-A4A6-0997-428A-1F331E55769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2020146"/>
            <a:ext cx="4697412" cy="2582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AB80AE-75C1-2173-733A-6348E4134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02996"/>
            <a:ext cx="4697413" cy="2255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3B163F-365C-D54C-D9AF-601B3D064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412" y="2020146"/>
            <a:ext cx="3857652" cy="48650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2B706D-35A8-64B8-E446-0108E0461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064" y="2020145"/>
            <a:ext cx="3636936" cy="483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47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</TotalTime>
  <Words>1058</Words>
  <Application>Microsoft Office PowerPoint</Application>
  <PresentationFormat>Widescreen</PresentationFormat>
  <Paragraphs>117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Bodoni MT Black</vt:lpstr>
      <vt:lpstr>Calibri</vt:lpstr>
      <vt:lpstr>Calibri Light</vt:lpstr>
      <vt:lpstr>Office Theme</vt:lpstr>
      <vt:lpstr> Understanding Aircraft Accident Severity: Aircraft Type, Damage Category, and Time (2018–2022)  By: Chris Mau Karagu</vt:lpstr>
      <vt:lpstr>Business Understanding</vt:lpstr>
      <vt:lpstr>Objective and Success Criteria</vt:lpstr>
      <vt:lpstr>Research Questions</vt:lpstr>
      <vt:lpstr>Data Understanding</vt:lpstr>
      <vt:lpstr>Data Quality</vt:lpstr>
      <vt:lpstr>Data Preparation</vt:lpstr>
      <vt:lpstr>Data Preparation (Damage Category Standardization)</vt:lpstr>
      <vt:lpstr>Findings (RQ1: Lowest-severity types under threshold)</vt:lpstr>
      <vt:lpstr>Findings (RQ2: Damage category drives severity)</vt:lpstr>
      <vt:lpstr>Findings (RQ3: Time trend 2018–2022)</vt:lpstr>
      <vt:lpstr>Executive Summary (Decision-Relevant Takeaways)</vt:lpstr>
      <vt:lpstr>Recommendations</vt:lpstr>
      <vt:lpstr>Limitations</vt:lpstr>
      <vt:lpstr>Appendix (Tables and Graphs Used)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Ngige</dc:creator>
  <cp:lastModifiedBy>Sparkwave</cp:lastModifiedBy>
  <cp:revision>4</cp:revision>
  <dcterms:created xsi:type="dcterms:W3CDTF">2026-02-02T11:01:47Z</dcterms:created>
  <dcterms:modified xsi:type="dcterms:W3CDTF">2026-02-08T06:03:43Z</dcterms:modified>
</cp:coreProperties>
</file>